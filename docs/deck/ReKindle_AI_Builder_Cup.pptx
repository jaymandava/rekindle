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361483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6052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350"/>
              </a:spcAft>
            </a:pPr>
            <a:r>
              <a:rPr sz="3000" b="1">
                <a:solidFill>
                  <a:srgbClr val="14181F"/>
                </a:solidFill>
                <a:latin typeface="Arial"/>
              </a:rPr>
              <a:t>Team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8463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name: </a:t>
            </a:r>
            <a:r>
              <a:rPr sz="2000" b="0">
                <a:solidFill>
                  <a:srgbClr val="14181F"/>
                </a:solidFill>
                <a:latin typeface="Arial"/>
              </a:rPr>
              <a:t>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3035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Team leader: </a:t>
            </a:r>
            <a:r>
              <a:rPr sz="2000" b="0">
                <a:solidFill>
                  <a:srgbClr val="14181F"/>
                </a:solidFill>
                <a:latin typeface="Arial"/>
              </a:rPr>
              <a:t>Abhishek Puvvada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Problem statement: </a:t>
            </a:r>
            <a:r>
              <a:rPr sz="2000" b="0">
                <a:solidFill>
                  <a:srgbClr val="14181F"/>
                </a:solidFill>
                <a:latin typeface="Arial"/>
              </a:rPr>
              <a:t>AI-powered customer re-engagement and segmentation for customer-centric commerce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Brief about 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ReKindle turns a merchant's past-customer database into recurring revenue. </a:t>
            </a:r>
            <a:r>
              <a:rPr sz="2000" b="0">
                <a:solidFill>
                  <a:srgbClr val="14181F"/>
                </a:solidFill>
                <a:latin typeface="Arial"/>
              </a:rPr>
              <a:t>It finds customers who have gone quiet, writes a personal WhatsApp message for each (email optional), and sends only what has been fact-checked. Human-supervised first; autonomy is earned.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1  Find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BigQuery SQL scores recency, frequency and spend from Baby Trails bookings and spots the next natural session, like a newborn reaching baby-session age. No LLM.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E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2  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Gemini on Vertex AI drafts the message. Every claim must cite a fact from that customer's own record. It never invents a name, price or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3  Verify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 deterministic guardrail blocks anything ungrounded. Only customers who opted in are ever drafted for, and STOP is honoured before any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2834640"/>
            <a:ext cx="2651760" cy="278892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2971800"/>
            <a:ext cx="24323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4  Earn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3520440"/>
            <a:ext cx="2432304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Nothing auto-sends until the owner has reviewed 20 drafts. Then only low-risk drafts do. Milestones and discounts always go to the owner.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15000"/>
            <a:ext cx="11247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Built on Google Cloud: BigQuery, Gemini on Vertex AI, Cloud Run, Firestore, Looker Studio. Pilot partner: Babytrail Photography (Baby Trails), whose booking system already runs on GCP. A studio is the hardest test of personalization because every message touches a family milestone; the same engine generalizes to apparel, D2C, salons and clinics.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3619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is it different?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53619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Re-engagement tools blast templates. Most AI entries are chat wrappers or static dashboards. ReKindle is a hybrid agent: deterministic logic decides who, when and what is allowed; Gemini only writes; a deterministic verifier and the owner decide what is 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15468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2783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How does it solve the problem?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22783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Past customers are a merchant's cheapest revenue but nobody has time to write 300 personal messages. ReKindle segments the base, drafts each message grounded in that customer's history, and routes it: low-risk drafts go out automatically once trust is earned, everything else lands in a one-tap cockpit.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11247120" cy="15544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5875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919472"/>
            <a:ext cx="30175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is the USP?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919472"/>
            <a:ext cx="786384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14181F"/>
                </a:solidFill>
                <a:latin typeface="Arial"/>
              </a:rPr>
              <a:t>AI speed without the hallucination risk that keeps merchants from letting AI near their customers. In our adversarial test, 1,864 corrupted drafts were all stopped before sending, and 0 reached a customer without a human.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List of features offered by the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Automated segmentation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RFM scoring and dormancy triggers in one BigQuery query; journey triggers from the baby's estimated 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17320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472184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Grounded drafts with citations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37944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Gemini structured output: every claim quotes the message and cites a fact 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Fact-verification guardrail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Blocks invented numbers, names, offers, links, pressure and fabricated memories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670048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724912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Risk-tiered 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90672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Low / medium / high. Milestones and discounts always need the owner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Earned autonomy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Auto-send unlocks after 20 owner decisions; threshold learns from approvals, edits and rejections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922776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4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Opt-in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43400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No opt-in, no draft: the photo-use flag is never treated as messaging consent. STOP suppresses before generation and cancels queued drafts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WhatsApp-first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Approved Marketing template for dormant customers (24h rule); email optional; opt-out line added by the system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5175504"/>
            <a:ext cx="5486400" cy="114300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5230368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1">
                <a:solidFill>
                  <a:srgbClr val="14181F"/>
                </a:solidFill>
                <a:latin typeface="Arial"/>
              </a:rPr>
              <a:t>Owner cockpit +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5596128"/>
            <a:ext cx="52120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Real-time Firestore queue with claims shown next to facts; BigQuery view for Looker Studio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Process flow diagram</a:t>
            </a:r>
          </a:p>
        </p:txBody>
      </p:sp>
      <p:pic>
        <p:nvPicPr>
          <p:cNvPr id="4" name="Picture 3" descr="flow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63414"/>
            <a:ext cx="11430000" cy="51198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Wireframes: the owner cockpit (live prototype)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75634"/>
            <a:ext cx="7863840" cy="52040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146304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1  Highlighted words: </a:t>
            </a:r>
            <a:r>
              <a:rPr sz="1400" b="0">
                <a:solidFill>
                  <a:srgbClr val="14181F"/>
                </a:solidFill>
                <a:latin typeface="Arial"/>
              </a:rPr>
              <a:t>each claim in the message, hover to see its source 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246888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2  Fact chips: </a:t>
            </a:r>
            <a:r>
              <a:rPr sz="1400" b="0">
                <a:solidFill>
                  <a:srgbClr val="14181F"/>
                </a:solidFill>
                <a:latin typeface="Arial"/>
              </a:rPr>
              <a:t>the customer-record fields the draft is allowed to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47472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3  Risk + confidence: </a:t>
            </a:r>
            <a:r>
              <a:rPr sz="1400" b="0">
                <a:solidFill>
                  <a:srgbClr val="14181F"/>
                </a:solidFill>
                <a:latin typeface="Arial"/>
              </a:rPr>
              <a:t>why this draft needs a human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48056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4  Autonomy meter: </a:t>
            </a:r>
            <a:r>
              <a:rPr sz="1400" b="0">
                <a:solidFill>
                  <a:srgbClr val="14181F"/>
                </a:solidFill>
                <a:latin typeface="Arial"/>
              </a:rPr>
              <a:t>warm-up progress, then the learned auto-send threshold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5486400"/>
            <a:ext cx="35661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5  Approve / Edit / Reject: </a:t>
            </a:r>
            <a:r>
              <a:rPr sz="1400" b="0">
                <a:solidFill>
                  <a:srgbClr val="14181F"/>
                </a:solidFill>
                <a:latin typeface="Arial"/>
              </a:rPr>
              <a:t>edits are re-verified; every decision tunes the threshold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Architecture diagram of the proposed solution</a:t>
            </a:r>
          </a:p>
        </p:txBody>
      </p:sp>
      <p:pic>
        <p:nvPicPr>
          <p:cNvPr id="4" name="Picture 3" descr="architecture_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38823"/>
            <a:ext cx="11430000" cy="51690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Built on a real studio: the Baby Trails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Baby Trails' Airtable Bookings: phone, shoot type, baby age, package, totals, paid flags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catalog: newborn 5-30 days, baby 3-12 months, maternity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Same WhatsApp number and GCP project; ReKindle runs beside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we never assume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Its photo-use flag is not messaging consent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No child name on file, so drafts say 'your little one'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Only an age at booking, so milestones are estimates, quoted by month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Maternity history never produces a baby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463040"/>
            <a:ext cx="3657600" cy="42976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5544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000" b="1">
                <a:solidFill>
                  <a:srgbClr val="14181F"/>
                </a:solidFill>
                <a:latin typeface="Arial"/>
              </a:rPr>
              <a:t>What the pilot needs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103120"/>
            <a:ext cx="338328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opt-in question at booking: today none of the studio's customers are eligible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Inbound routing: STOP and replies forwarded to ReKindle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An approved Marketing template (rk_reengage_v1)</a:t>
            </a:r>
          </a:p>
          <a:p>
            <a:pPr algn="l">
              <a:lnSpc>
                <a:spcPct val="110000"/>
              </a:lnSpc>
              <a:spcAft>
                <a:spcPts val="880"/>
              </a:spcAft>
            </a:pPr>
            <a:r>
              <a:rPr sz="1600" b="1">
                <a:solidFill>
                  <a:srgbClr val="14181F"/>
                </a:solidFill>
                <a:latin typeface="Arial"/>
              </a:rPr>
              <a:t>•  </a:t>
            </a:r>
            <a:r>
              <a:rPr sz="1600" b="0">
                <a:solidFill>
                  <a:srgbClr val="14181F"/>
                </a:solidFill>
                <a:latin typeface="Arial"/>
              </a:rPr>
              <a:t>Venkat's real prices and approved offers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Reviewed against the Baby Trails repo. Details and proposed changes: docs/BABYTRAILS_INTEGRATION.md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Technologies used in the solution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173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321040"/>
              </a:tblGrid>
              <a:tr h="55880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Role in ReKindle</a:t>
                      </a:r>
                    </a:p>
                  </a:txBody>
                  <a:tcPr anchor="ctr">
                    <a:solidFill>
                      <a:srgbClr val="14181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Gemini 3.8 Flash on Vertex AI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Message drafting with structured output (response_schema) that forces claim-to-fact citations; reply-intent classification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BigQuery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Source of truth for customers and orders; deterministic RFM + dormancy SQL; append-only event log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Cloud Run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Agent orchestration (FastAPI), owner cockpit UI, WhatsApp webhook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Firestore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Real-time draft queue, trust state and suppression list for the cockpit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Looker Studio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Dashboard over a BigQuery view: recovered revenue, auto-send and reply rates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Baby Trails (existing)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Airtable bookings are the customer and order source; its server owns the WhatsApp number and webhook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Gmail API (optional)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Email with the system-added opt-out line; Baby Trails holds no emails today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1F"/>
                          </a:solidFill>
                          <a:latin typeface="Arial"/>
                        </a:rPr>
                        <a:t>WhatsApp Cloud API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1F"/>
                          </a:solidFill>
                          <a:latin typeface="Arial"/>
                        </a:rPr>
                        <a:t>Delivery channel only (Meta-run), approved templates; the rest of the stack is Google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Estimated implementation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14181F"/>
                </a:solidFill>
                <a:latin typeface="Arial"/>
              </a:rPr>
              <a:t>The MVP runs within Google Cloud hackathon credits. Every cost driver is consumption-based, and the design keeps the expensive part (the LLM) to one call per message, two at most.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Gemini on Vertex AI: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messages drafted; one call per message, plus one regeneration only when the guardrail blocks a draft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BigQuery: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customer records scanned; segmentation is one query per campaign run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Cloud Run: </a:t>
            </a:r>
            <a:r>
              <a:rPr sz="1900" b="0">
                <a:solidFill>
                  <a:srgbClr val="14181F"/>
                </a:solidFill>
                <a:latin typeface="Arial"/>
              </a:rPr>
              <a:t>pay-per-request, scales to zero between campaigns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Firestore: </a:t>
            </a:r>
            <a:r>
              <a:rPr sz="1900" b="0">
                <a:solidFill>
                  <a:srgbClr val="14181F"/>
                </a:solidFill>
                <a:latin typeface="Arial"/>
              </a:rPr>
              <a:t>scales with cockpit activity (drafts written, decisions made)</a:t>
            </a:r>
          </a:p>
          <a:p>
            <a:pPr algn="l">
              <a:lnSpc>
                <a:spcPct val="110000"/>
              </a:lnSpc>
              <a:spcAft>
                <a:spcPts val="950"/>
              </a:spcAft>
            </a:pPr>
            <a:r>
              <a:rPr sz="1900" b="1">
                <a:solidFill>
                  <a:srgbClr val="14181F"/>
                </a:solidFill>
                <a:latin typeface="Arial"/>
              </a:rPr>
              <a:t>•  </a:t>
            </a:r>
            <a:r>
              <a:rPr sz="1900" b="1">
                <a:solidFill>
                  <a:srgbClr val="14181F"/>
                </a:solidFill>
                <a:latin typeface="Arial"/>
              </a:rPr>
              <a:t>WhatsApp Business API: </a:t>
            </a:r>
            <a:r>
              <a:rPr sz="1900" b="0">
                <a:solidFill>
                  <a:srgbClr val="14181F"/>
                </a:solidFill>
                <a:latin typeface="Arial"/>
              </a:rPr>
              <a:t>per-conversation fees from the provider; email via Gmail API has no per-message fee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Snapshots of the prototype</a:t>
            </a:r>
          </a:p>
        </p:txBody>
      </p:sp>
      <p:pic>
        <p:nvPicPr>
          <p:cNvPr id="4" name="Picture 3" descr="cockpi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93968"/>
            <a:ext cx="6400800" cy="42358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8521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Owner review queue: claims highlighted against their source facts; autonomy meter shows trust earned</a:t>
            </a:r>
          </a:p>
        </p:txBody>
      </p:sp>
      <p:pic>
        <p:nvPicPr>
          <p:cNvPr id="6" name="Picture 5" descr="block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315894"/>
            <a:ext cx="5029200" cy="2591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5852160"/>
            <a:ext cx="5029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5B6472"/>
                </a:solidFill>
                <a:latin typeface="Arial"/>
              </a:rPr>
              <a:t>Guardrail at work: an invented 20% discount is blocked and never reaches the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5B6472"/>
                </a:solidFill>
                <a:latin typeface="Arial"/>
              </a:rPr>
              <a:t>Running prototype on synthetic customer data, not real customers.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Prototype performance report / benchmarking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7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adversarial drafts tested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1,864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stopped by the guardrail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reached a customer without a human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17320"/>
            <a:ext cx="2651760" cy="1325880"/>
          </a:xfrm>
          <a:prstGeom prst="roundRect">
            <a:avLst>
              <a:gd name="adj" fmla="val 6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463040"/>
            <a:ext cx="2651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1530"/>
              </a:spcAft>
            </a:pPr>
            <a:r>
              <a:rPr sz="3400" b="1">
                <a:solidFill>
                  <a:srgbClr val="14181F"/>
                </a:solidFill>
                <a:latin typeface="Arial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194560"/>
            <a:ext cx="24688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14181F"/>
                </a:solidFill>
                <a:latin typeface="Arial"/>
              </a:rPr>
              <a:t>good drafts wrongly blocked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1124712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13 corruption types a hallucinating model could produce (invented discount, wrong age, invented name, fake product, pressure, links, guarantees, fabricated memories) applied to all 145 outreach targets, with auto-send fully unlocked and the threshold at its floor.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Seeded demo run on synthetic Baby Trails-shaped data (320 customers, 176 opted in): 90 drafts, 29 sent (7 auto-sent, 22 owner-approved), 7 blocked, 2 opt-outs honoured. Owner decisions, replies and orders are simulated; the opt-in rate is illustrative.</a:t>
            </a:r>
          </a:p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500" b="1">
                <a:solidFill>
                  <a:srgbClr val="14181F"/>
                </a:solidFill>
                <a:latin typeface="Arial"/>
              </a:rPr>
              <a:t>•  </a:t>
            </a:r>
            <a:r>
              <a:rPr sz="1500" b="0">
                <a:solidFill>
                  <a:srgbClr val="14181F"/>
                </a:solidFill>
                <a:latin typeface="Arial"/>
              </a:rPr>
              <a:t>65 automated tests cover the Baby Trails adapter, segmentation, opt-in and STOP, the guardrail, routing and the approval API.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440680"/>
            <a:ext cx="11247120" cy="1143000"/>
          </a:xfrm>
          <a:prstGeom prst="roundRect">
            <a:avLst>
              <a:gd name="adj" fmla="val 6000"/>
            </a:avLst>
          </a:prstGeom>
          <a:solidFill>
            <a:srgbClr val="FD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486400"/>
            <a:ext cx="108813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1">
                <a:solidFill>
                  <a:srgbClr val="14181F"/>
                </a:solidFill>
                <a:latin typeface="Arial"/>
              </a:rPr>
              <a:t>Honest scope. </a:t>
            </a:r>
            <a:r>
              <a:rPr sz="1400" b="0">
                <a:solidFill>
                  <a:srgbClr val="14181F"/>
                </a:solidFill>
                <a:latin typeface="Arial"/>
              </a:rPr>
              <a:t>This tests the guardrail with our own corruption set on synthetic data, not Gemini's real output or real customers. Pilot metrics (auto-send rate, approval latency, time saved, recovered revenue) will be measured on Babytrail's data at the Nov 6 prototype evaluation and replace the simulated figures.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Additional details / future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Second-layer semantic verifier: </a:t>
            </a:r>
            <a:r>
              <a:rPr sz="1800" b="0">
                <a:solidFill>
                  <a:srgbClr val="14181F"/>
                </a:solidFill>
                <a:latin typeface="Arial"/>
              </a:rPr>
              <a:t>a Gemini entailment check on top of the deterministic one, for paraphrased claims no rule can see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Native integrations: </a:t>
            </a:r>
            <a:r>
              <a:rPr sz="1800" b="0">
                <a:solidFill>
                  <a:srgbClr val="14181F"/>
                </a:solidFill>
                <a:latin typeface="Arial"/>
              </a:rPr>
              <a:t>Shopify, WooCommerce and Unicommerce for one-click onboarding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Context-aware retrieval: </a:t>
            </a:r>
            <a:r>
              <a:rPr sz="1800" b="0">
                <a:solidFill>
                  <a:srgbClr val="14181F"/>
                </a:solidFill>
                <a:latin typeface="Arial"/>
              </a:rPr>
              <a:t>Vertex AI Search over catalog and order history for richer personalization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Inventory-aware campaigns: </a:t>
            </a:r>
            <a:r>
              <a:rPr sz="1800" b="0">
                <a:solidFill>
                  <a:srgbClr val="14181F"/>
                </a:solidFill>
                <a:latin typeface="Arial"/>
              </a:rPr>
              <a:t>promote what is in stock, pause what is not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More channels: </a:t>
            </a:r>
            <a:r>
              <a:rPr sz="1800" b="0">
                <a:solidFill>
                  <a:srgbClr val="14181F"/>
                </a:solidFill>
                <a:latin typeface="Arial"/>
              </a:rPr>
              <a:t>SMS and Instagram DMs alongside WhatsApp and email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Predictive intelligence: </a:t>
            </a:r>
            <a:r>
              <a:rPr sz="1800" b="0">
                <a:solidFill>
                  <a:srgbClr val="14181F"/>
                </a:solidFill>
                <a:latin typeface="Arial"/>
              </a:rPr>
              <a:t>churn and lifetime-value scoring with BigQuery ML beyond RFM</a:t>
            </a:r>
          </a:p>
          <a:p>
            <a:pPr algn="l">
              <a:lnSpc>
                <a:spcPct val="110000"/>
              </a:lnSpc>
              <a:spcAft>
                <a:spcPts val="1080"/>
              </a:spcAft>
            </a:pPr>
            <a:r>
              <a:rPr sz="1800" b="1">
                <a:solidFill>
                  <a:srgbClr val="14181F"/>
                </a:solidFill>
                <a:latin typeface="Arial"/>
              </a:rPr>
              <a:t>•  </a:t>
            </a:r>
            <a:r>
              <a:rPr sz="1800" b="1">
                <a:solidFill>
                  <a:srgbClr val="14181F"/>
                </a:solidFill>
                <a:latin typeface="Arial"/>
              </a:rPr>
              <a:t>Trust-earning autonomy at scale: </a:t>
            </a:r>
            <a:r>
              <a:rPr sz="1800" b="0">
                <a:solidFill>
                  <a:srgbClr val="14181F"/>
                </a:solidFill>
                <a:latin typeface="Arial"/>
              </a:rPr>
              <a:t>merchant edits teach the model; the cockpit becomes an exception-handling tool, not a daily chore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Provide links to your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GitHub Public Repository: </a:t>
            </a:r>
            <a:r>
              <a:rPr sz="2200" b="0">
                <a:solidFill>
                  <a:srgbClr val="14181F"/>
                </a:solidFill>
                <a:latin typeface="Arial"/>
              </a:rPr>
              <a:t>https://github.com/JayMandava/rekindle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Demo Video Link (3 minutes): </a:t>
            </a:r>
            <a:r>
              <a:rPr sz="2200" b="0">
                <a:solidFill>
                  <a:srgbClr val="14181F"/>
                </a:solidFill>
                <a:latin typeface="Arial"/>
              </a:rPr>
              <a:t>[add before submission]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9184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Final Product Link: </a:t>
            </a:r>
            <a:r>
              <a:rPr sz="2200" b="0">
                <a:solidFill>
                  <a:srgbClr val="14181F"/>
                </a:solidFill>
                <a:latin typeface="Arial"/>
              </a:rPr>
              <a:t>[add before submission: Cloud Run URL]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7663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49808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1260"/>
              </a:spcAft>
            </a:pPr>
            <a:r>
              <a:rPr sz="2800" b="1">
                <a:solidFill>
                  <a:srgbClr val="14181F"/>
                </a:solidFill>
                <a:latin typeface="Arial"/>
              </a:rPr>
              <a:t>Team</a:t>
            </a:r>
          </a:p>
        </p:txBody>
      </p:sp>
      <p:sp>
        <p:nvSpPr>
          <p:cNvPr id="4" name="Oval 3"/>
          <p:cNvSpPr/>
          <p:nvPr/>
        </p:nvSpPr>
        <p:spPr>
          <a:xfrm>
            <a:off x="128016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Abhishek</a:t>
            </a:r>
          </a:p>
        </p:txBody>
      </p:sp>
      <p:sp>
        <p:nvSpPr>
          <p:cNvPr id="7" name="Oval 6"/>
          <p:cNvSpPr/>
          <p:nvPr/>
        </p:nvSpPr>
        <p:spPr>
          <a:xfrm>
            <a:off x="393192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Rishub</a:t>
            </a:r>
          </a:p>
        </p:txBody>
      </p:sp>
      <p:sp>
        <p:nvSpPr>
          <p:cNvPr id="10" name="Oval 9"/>
          <p:cNvSpPr/>
          <p:nvPr/>
        </p:nvSpPr>
        <p:spPr>
          <a:xfrm>
            <a:off x="6583679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59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Jeyanth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0" y="2011680"/>
            <a:ext cx="1828800" cy="1828800"/>
          </a:xfrm>
          <a:prstGeom prst="ellipse">
            <a:avLst/>
          </a:prstGeom>
          <a:solidFill>
            <a:srgbClr val="E7EF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011680"/>
            <a:ext cx="1828800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2430"/>
              </a:spcAft>
            </a:pPr>
            <a:r>
              <a:rPr sz="5400" b="1">
                <a:solidFill>
                  <a:srgbClr val="174EA6"/>
                </a:solidFill>
                <a:latin typeface="Arial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02336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990"/>
              </a:spcAft>
            </a:pPr>
            <a:r>
              <a:rPr sz="2200" b="1">
                <a:solidFill>
                  <a:srgbClr val="14181F"/>
                </a:solidFill>
                <a:latin typeface="Arial"/>
              </a:rPr>
              <a:t>Pratheek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5B6472"/>
                </a:solidFill>
                <a:latin typeface="Arial"/>
              </a:rPr>
              <a:t>Replace circles with team photos before submission.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