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6148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16052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1350"/>
              </a:spcAft>
            </a:pPr>
            <a:r>
              <a:rPr sz="3000" b="1">
                <a:solidFill>
                  <a:srgbClr val="14181F"/>
                </a:solidFill>
                <a:latin typeface="Arial"/>
              </a:rPr>
              <a:t>Team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8463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000" b="1">
                <a:solidFill>
                  <a:srgbClr val="14181F"/>
                </a:solidFill>
                <a:latin typeface="Arial"/>
              </a:rPr>
              <a:t>Team name: </a:t>
            </a:r>
            <a:r>
              <a:rPr sz="2000" b="0">
                <a:solidFill>
                  <a:srgbClr val="14181F"/>
                </a:solidFill>
                <a:latin typeface="Arial"/>
              </a:rPr>
              <a:t>ReKindle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3035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000" b="1">
                <a:solidFill>
                  <a:srgbClr val="14181F"/>
                </a:solidFill>
                <a:latin typeface="Arial"/>
              </a:rPr>
              <a:t>Team leader: </a:t>
            </a:r>
            <a:r>
              <a:rPr sz="2000" b="0">
                <a:solidFill>
                  <a:srgbClr val="14181F"/>
                </a:solidFill>
                <a:latin typeface="Arial"/>
              </a:rPr>
              <a:t>Abhishek Puvvada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7607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000" b="1">
                <a:solidFill>
                  <a:srgbClr val="14181F"/>
                </a:solidFill>
                <a:latin typeface="Arial"/>
              </a:rPr>
              <a:t>Problem statement: </a:t>
            </a:r>
            <a:r>
              <a:rPr sz="2000" b="0">
                <a:solidFill>
                  <a:srgbClr val="14181F"/>
                </a:solidFill>
                <a:latin typeface="Arial"/>
              </a:rPr>
              <a:t>AI-powered customer re-engagement and segmentation for customer-centric commerce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663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4980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1260"/>
              </a:spcAft>
            </a:pPr>
            <a:r>
              <a:rPr sz="2800" b="1">
                <a:solidFill>
                  <a:srgbClr val="14181F"/>
                </a:solidFill>
                <a:latin typeface="Arial"/>
              </a:rPr>
              <a:t>Brief about 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000" b="1">
                <a:solidFill>
                  <a:srgbClr val="14181F"/>
                </a:solidFill>
                <a:latin typeface="Arial"/>
              </a:rPr>
              <a:t>ReKindle turns a merchant's past-customer database into recurring revenue. </a:t>
            </a:r>
            <a:r>
              <a:rPr sz="2000" b="0">
                <a:solidFill>
                  <a:srgbClr val="14181F"/>
                </a:solidFill>
                <a:latin typeface="Arial"/>
              </a:rPr>
              <a:t>It finds customers who have gone quiet, writes a personal WhatsApp or email message for each, and sends only what has been fact-checked. Human-supervised first; autonomy is earned.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80360"/>
            <a:ext cx="2651760" cy="2651760"/>
          </a:xfrm>
          <a:prstGeom prst="roundRect">
            <a:avLst>
              <a:gd name="adj" fmla="val 6000"/>
            </a:avLst>
          </a:prstGeom>
          <a:solidFill>
            <a:srgbClr val="E7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971800"/>
            <a:ext cx="243230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000" b="1">
                <a:solidFill>
                  <a:srgbClr val="14181F"/>
                </a:solidFill>
                <a:latin typeface="Arial"/>
              </a:rPr>
              <a:t>1  Find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520440"/>
            <a:ext cx="2432304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14181F"/>
                </a:solidFill>
                <a:latin typeface="Arial"/>
              </a:rPr>
              <a:t>BigQuery SQL scores recency, frequency and spend, and spots milestones (a child turning one). Deterministic, auditable, no LLM.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880360"/>
            <a:ext cx="2651760" cy="2651760"/>
          </a:xfrm>
          <a:prstGeom prst="roundRect">
            <a:avLst>
              <a:gd name="adj" fmla="val 6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01568" y="2971800"/>
            <a:ext cx="243230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000" b="1">
                <a:solidFill>
                  <a:srgbClr val="14181F"/>
                </a:solidFill>
                <a:latin typeface="Arial"/>
              </a:rPr>
              <a:t>2  Write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3520440"/>
            <a:ext cx="2432304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14181F"/>
                </a:solidFill>
                <a:latin typeface="Arial"/>
              </a:rPr>
              <a:t>Gemini on Vertex AI drafts in the customer's language. Every claim must cite a fact from that customer's own record.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880360"/>
            <a:ext cx="2651760" cy="2651760"/>
          </a:xfrm>
          <a:prstGeom prst="roundRect">
            <a:avLst>
              <a:gd name="adj" fmla="val 6000"/>
            </a:avLst>
          </a:prstGeom>
          <a:solidFill>
            <a:srgbClr val="FD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2971800"/>
            <a:ext cx="243230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000" b="1">
                <a:solidFill>
                  <a:srgbClr val="14181F"/>
                </a:solidFill>
                <a:latin typeface="Arial"/>
              </a:rPr>
              <a:t>3  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3520440"/>
            <a:ext cx="2432304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14181F"/>
                </a:solidFill>
                <a:latin typeface="Arial"/>
              </a:rPr>
              <a:t>A deterministic guardrail blocks invented numbers, names, offers and memories. Consent and STOP are enforced before any generation.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880360"/>
            <a:ext cx="2651760" cy="2651760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2971800"/>
            <a:ext cx="243230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000" b="1">
                <a:solidFill>
                  <a:srgbClr val="14181F"/>
                </a:solidFill>
                <a:latin typeface="Arial"/>
              </a:rPr>
              <a:t>4  Earn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3520440"/>
            <a:ext cx="2432304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14181F"/>
                </a:solidFill>
                <a:latin typeface="Arial"/>
              </a:rPr>
              <a:t>Nothing auto-sends until the owner has reviewed 20 drafts. Then only low-risk drafts do. Milestones and discounts always go to the owner.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715000"/>
            <a:ext cx="11247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30"/>
              </a:spcAft>
            </a:pPr>
            <a:r>
              <a:rPr sz="1400" b="0">
                <a:solidFill>
                  <a:srgbClr val="5B6472"/>
                </a:solidFill>
                <a:latin typeface="Arial"/>
              </a:rPr>
              <a:t>Built entirely on Google Cloud: BigQuery, Gemini on Vertex AI, Cloud Run, Firestore, Looker Studio. Pilot partner: Babytrail Photography. A studio is the hardest test of personalization because every message touches a family milestone; the same engine generalizes to apparel, D2C, salons and clinics.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663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4980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1260"/>
              </a:spcAft>
            </a:pPr>
            <a:r>
              <a:rPr sz="2800" b="1">
                <a:solidFill>
                  <a:srgbClr val="14181F"/>
                </a:solidFill>
                <a:latin typeface="Arial"/>
              </a:rPr>
              <a:t>Opportunities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155448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587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36192"/>
            <a:ext cx="301752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000" b="1">
                <a:solidFill>
                  <a:srgbClr val="14181F"/>
                </a:solidFill>
                <a:latin typeface="Arial"/>
              </a:rPr>
              <a:t>How is it different?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536192"/>
            <a:ext cx="786384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14181F"/>
                </a:solidFill>
                <a:latin typeface="Arial"/>
              </a:rPr>
              <a:t>Re-engagement tools blast templates. Most AI entries are chat wrappers or static dashboards. ReKindle is a hybrid agent: deterministic logic decides who, when and what is allowed; Gemini only writes; a deterministic verifier and the owner decide what is sent.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54680"/>
            <a:ext cx="11247120" cy="155448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587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227832"/>
            <a:ext cx="301752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000" b="1">
                <a:solidFill>
                  <a:srgbClr val="14181F"/>
                </a:solidFill>
                <a:latin typeface="Arial"/>
              </a:rPr>
              <a:t>How does it solve the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227832"/>
            <a:ext cx="786384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14181F"/>
                </a:solidFill>
                <a:latin typeface="Arial"/>
              </a:rPr>
              <a:t>Past customers are a merchant's cheapest revenue but nobody has time to write 300 personal messages. ReKindle segments the base, drafts each message grounded in that customer's history, and routes it: low-risk drafts go out automatically once trust is earned, everything else lands in a one-tap cockpit.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846320"/>
            <a:ext cx="11247120" cy="155448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587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919472"/>
            <a:ext cx="301752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000" b="1">
                <a:solidFill>
                  <a:srgbClr val="14181F"/>
                </a:solidFill>
                <a:latin typeface="Arial"/>
              </a:rPr>
              <a:t>What is the USP?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919472"/>
            <a:ext cx="786384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14181F"/>
                </a:solidFill>
                <a:latin typeface="Arial"/>
              </a:rPr>
              <a:t>AI speed without the hallucination risk that keeps merchants from letting AI near their customers. In our adversarial test, 2,783 corrupted drafts were all stopped before sending, and 0 reached a customer without a human.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663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4980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1260"/>
              </a:spcAft>
            </a:pPr>
            <a:r>
              <a:rPr sz="2800" b="1">
                <a:solidFill>
                  <a:srgbClr val="14181F"/>
                </a:solidFill>
                <a:latin typeface="Arial"/>
              </a:rPr>
              <a:t>List of features offered by the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5486400" cy="1143000"/>
          </a:xfrm>
          <a:prstGeom prst="roundRect">
            <a:avLst>
              <a:gd name="adj" fmla="val 6000"/>
            </a:avLst>
          </a:prstGeom>
          <a:solidFill>
            <a:srgbClr val="E7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72184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765"/>
              </a:spcAft>
            </a:pPr>
            <a:r>
              <a:rPr sz="1700" b="1">
                <a:solidFill>
                  <a:srgbClr val="14181F"/>
                </a:solidFill>
                <a:latin typeface="Arial"/>
              </a:rPr>
              <a:t>Automated segmentation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37944"/>
            <a:ext cx="52120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585"/>
              </a:spcAft>
            </a:pPr>
            <a:r>
              <a:rPr sz="1300" b="0">
                <a:solidFill>
                  <a:srgbClr val="14181F"/>
                </a:solidFill>
                <a:latin typeface="Arial"/>
              </a:rPr>
              <a:t>RFM scoring and dormancy triggers in one BigQuery query; milestone detection (6/12/18/24 months)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17320"/>
            <a:ext cx="5486400" cy="1143000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472184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765"/>
              </a:spcAft>
            </a:pPr>
            <a:r>
              <a:rPr sz="1700" b="1">
                <a:solidFill>
                  <a:srgbClr val="14181F"/>
                </a:solidFill>
                <a:latin typeface="Arial"/>
              </a:rPr>
              <a:t>Grounded drafts with citations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837944"/>
            <a:ext cx="52120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585"/>
              </a:spcAft>
            </a:pPr>
            <a:r>
              <a:rPr sz="1300" b="0">
                <a:solidFill>
                  <a:srgbClr val="14181F"/>
                </a:solidFill>
                <a:latin typeface="Arial"/>
              </a:rPr>
              <a:t>Gemini structured output: every claim quotes the message and cites a fact 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486400" cy="1143000"/>
          </a:xfrm>
          <a:prstGeom prst="roundRect">
            <a:avLst>
              <a:gd name="adj" fmla="val 6000"/>
            </a:avLst>
          </a:prstGeom>
          <a:solidFill>
            <a:srgbClr val="E7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724912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765"/>
              </a:spcAft>
            </a:pPr>
            <a:r>
              <a:rPr sz="1700" b="1">
                <a:solidFill>
                  <a:srgbClr val="14181F"/>
                </a:solidFill>
                <a:latin typeface="Arial"/>
              </a:rPr>
              <a:t>Fact-verification guardrail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90672"/>
            <a:ext cx="52120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585"/>
              </a:spcAft>
            </a:pPr>
            <a:r>
              <a:rPr sz="1300" b="0">
                <a:solidFill>
                  <a:srgbClr val="14181F"/>
                </a:solidFill>
                <a:latin typeface="Arial"/>
              </a:rPr>
              <a:t>Blocks invented numbers, names, offers, links, pressure and fabricated memories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670048"/>
            <a:ext cx="5486400" cy="1143000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724912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765"/>
              </a:spcAft>
            </a:pPr>
            <a:r>
              <a:rPr sz="1700" b="1">
                <a:solidFill>
                  <a:srgbClr val="14181F"/>
                </a:solidFill>
                <a:latin typeface="Arial"/>
              </a:rPr>
              <a:t>Risk-tiered 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090672"/>
            <a:ext cx="52120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585"/>
              </a:spcAft>
            </a:pPr>
            <a:r>
              <a:rPr sz="1300" b="0">
                <a:solidFill>
                  <a:srgbClr val="14181F"/>
                </a:solidFill>
                <a:latin typeface="Arial"/>
              </a:rPr>
              <a:t>Low / medium / high. Milestones and discounts always need the owner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22776"/>
            <a:ext cx="5486400" cy="1143000"/>
          </a:xfrm>
          <a:prstGeom prst="roundRect">
            <a:avLst>
              <a:gd name="adj" fmla="val 6000"/>
            </a:avLst>
          </a:prstGeom>
          <a:solidFill>
            <a:srgbClr val="E7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97764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765"/>
              </a:spcAft>
            </a:pPr>
            <a:r>
              <a:rPr sz="1700" b="1">
                <a:solidFill>
                  <a:srgbClr val="14181F"/>
                </a:solidFill>
                <a:latin typeface="Arial"/>
              </a:rPr>
              <a:t>Earned autonomy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43400"/>
            <a:ext cx="52120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585"/>
              </a:spcAft>
            </a:pPr>
            <a:r>
              <a:rPr sz="1300" b="0">
                <a:solidFill>
                  <a:srgbClr val="14181F"/>
                </a:solidFill>
                <a:latin typeface="Arial"/>
              </a:rPr>
              <a:t>Auto-send unlocks after 20 owner decisions; threshold learns from approvals, edits and rejections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922776"/>
            <a:ext cx="5486400" cy="1143000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97764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765"/>
              </a:spcAft>
            </a:pPr>
            <a:r>
              <a:rPr sz="1700" b="1">
                <a:solidFill>
                  <a:srgbClr val="14181F"/>
                </a:solidFill>
                <a:latin typeface="Arial"/>
              </a:rPr>
              <a:t>Consent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343400"/>
            <a:ext cx="52120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585"/>
              </a:spcAft>
            </a:pPr>
            <a:r>
              <a:rPr sz="1300" b="0">
                <a:solidFill>
                  <a:srgbClr val="14181F"/>
                </a:solidFill>
                <a:latin typeface="Arial"/>
              </a:rPr>
              <a:t>No consented channel, no draft. STOP in any language suppresses before generation and cancels queued drafts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175504"/>
            <a:ext cx="5486400" cy="1143000"/>
          </a:xfrm>
          <a:prstGeom prst="roundRect">
            <a:avLst>
              <a:gd name="adj" fmla="val 6000"/>
            </a:avLst>
          </a:prstGeom>
          <a:solidFill>
            <a:srgbClr val="E7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230368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765"/>
              </a:spcAft>
            </a:pPr>
            <a:r>
              <a:rPr sz="1700" b="1">
                <a:solidFill>
                  <a:srgbClr val="14181F"/>
                </a:solidFill>
                <a:latin typeface="Arial"/>
              </a:rPr>
              <a:t>WhatsApp + email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596128"/>
            <a:ext cx="52120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585"/>
              </a:spcAft>
            </a:pPr>
            <a:r>
              <a:rPr sz="1300" b="0">
                <a:solidFill>
                  <a:srgbClr val="14181F"/>
                </a:solidFill>
                <a:latin typeface="Arial"/>
              </a:rPr>
              <a:t>WhatsApp approved-template compliance; Gmail API for email; opt-out line added by the system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5175504"/>
            <a:ext cx="5486400" cy="1143000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5230368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765"/>
              </a:spcAft>
            </a:pPr>
            <a:r>
              <a:rPr sz="1700" b="1">
                <a:solidFill>
                  <a:srgbClr val="14181F"/>
                </a:solidFill>
                <a:latin typeface="Arial"/>
              </a:rPr>
              <a:t>Owner cockpit +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5596128"/>
            <a:ext cx="52120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585"/>
              </a:spcAft>
            </a:pPr>
            <a:r>
              <a:rPr sz="1300" b="0">
                <a:solidFill>
                  <a:srgbClr val="14181F"/>
                </a:solidFill>
                <a:latin typeface="Arial"/>
              </a:rPr>
              <a:t>Real-time Firestore queue with claims shown next to facts; BigQuery view for Looker Studio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663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4980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1260"/>
              </a:spcAft>
            </a:pPr>
            <a:r>
              <a:rPr sz="2800" b="1">
                <a:solidFill>
                  <a:srgbClr val="14181F"/>
                </a:solidFill>
                <a:latin typeface="Arial"/>
              </a:rPr>
              <a:t>Process flow diagram</a:t>
            </a:r>
          </a:p>
        </p:txBody>
      </p:sp>
      <p:pic>
        <p:nvPicPr>
          <p:cNvPr id="4" name="Picture 3" descr="flow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414"/>
            <a:ext cx="11430000" cy="51198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663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4980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1260"/>
              </a:spcAft>
            </a:pPr>
            <a:r>
              <a:rPr sz="2800" b="1">
                <a:solidFill>
                  <a:srgbClr val="14181F"/>
                </a:solidFill>
                <a:latin typeface="Arial"/>
              </a:rPr>
              <a:t>Wireframes: the owner cockpit (live prototype)</a:t>
            </a:r>
          </a:p>
        </p:txBody>
      </p:sp>
      <p:pic>
        <p:nvPicPr>
          <p:cNvPr id="4" name="Picture 3" descr="cockpit-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5634"/>
            <a:ext cx="7863840" cy="52040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1463040"/>
            <a:ext cx="35661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30"/>
              </a:spcAft>
            </a:pPr>
            <a:r>
              <a:rPr sz="1400" b="1">
                <a:solidFill>
                  <a:srgbClr val="14181F"/>
                </a:solidFill>
                <a:latin typeface="Arial"/>
              </a:rPr>
              <a:t>1  Highlighted words: </a:t>
            </a:r>
            <a:r>
              <a:rPr sz="1400" b="0">
                <a:solidFill>
                  <a:srgbClr val="14181F"/>
                </a:solidFill>
                <a:latin typeface="Arial"/>
              </a:rPr>
              <a:t>each claim in the message, hover to see its source 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2468880"/>
            <a:ext cx="35661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30"/>
              </a:spcAft>
            </a:pPr>
            <a:r>
              <a:rPr sz="1400" b="1">
                <a:solidFill>
                  <a:srgbClr val="14181F"/>
                </a:solidFill>
                <a:latin typeface="Arial"/>
              </a:rPr>
              <a:t>2  Fact chips: </a:t>
            </a:r>
            <a:r>
              <a:rPr sz="1400" b="0">
                <a:solidFill>
                  <a:srgbClr val="14181F"/>
                </a:solidFill>
                <a:latin typeface="Arial"/>
              </a:rPr>
              <a:t>the customer-record fields the draft is allowed to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3474720"/>
            <a:ext cx="35661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30"/>
              </a:spcAft>
            </a:pPr>
            <a:r>
              <a:rPr sz="1400" b="1">
                <a:solidFill>
                  <a:srgbClr val="14181F"/>
                </a:solidFill>
                <a:latin typeface="Arial"/>
              </a:rPr>
              <a:t>3  Risk + confidence: </a:t>
            </a:r>
            <a:r>
              <a:rPr sz="1400" b="0">
                <a:solidFill>
                  <a:srgbClr val="14181F"/>
                </a:solidFill>
                <a:latin typeface="Arial"/>
              </a:rPr>
              <a:t>why this draft needs a human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4480560"/>
            <a:ext cx="35661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30"/>
              </a:spcAft>
            </a:pPr>
            <a:r>
              <a:rPr sz="1400" b="1">
                <a:solidFill>
                  <a:srgbClr val="14181F"/>
                </a:solidFill>
                <a:latin typeface="Arial"/>
              </a:rPr>
              <a:t>4  Autonomy meter: </a:t>
            </a:r>
            <a:r>
              <a:rPr sz="1400" b="0">
                <a:solidFill>
                  <a:srgbClr val="14181F"/>
                </a:solidFill>
                <a:latin typeface="Arial"/>
              </a:rPr>
              <a:t>warm-up progress, then the learned auto-send threshold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5486400"/>
            <a:ext cx="35661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30"/>
              </a:spcAft>
            </a:pPr>
            <a:r>
              <a:rPr sz="1400" b="1">
                <a:solidFill>
                  <a:srgbClr val="14181F"/>
                </a:solidFill>
                <a:latin typeface="Arial"/>
              </a:rPr>
              <a:t>5  Approve / Edit / Reject: </a:t>
            </a:r>
            <a:r>
              <a:rPr sz="1400" b="0">
                <a:solidFill>
                  <a:srgbClr val="14181F"/>
                </a:solidFill>
                <a:latin typeface="Arial"/>
              </a:rPr>
              <a:t>edits are re-verified; every decision tunes the threshold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663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4980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1260"/>
              </a:spcAft>
            </a:pPr>
            <a:r>
              <a:rPr sz="2800" b="1">
                <a:solidFill>
                  <a:srgbClr val="14181F"/>
                </a:solidFill>
                <a:latin typeface="Arial"/>
              </a:rPr>
              <a:t>Architecture diagram of the proposed solution</a:t>
            </a:r>
          </a:p>
        </p:txBody>
      </p:sp>
      <p:pic>
        <p:nvPicPr>
          <p:cNvPr id="4" name="Picture 3" descr="architecture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38823"/>
            <a:ext cx="11430000" cy="51690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663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4980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1260"/>
              </a:spcAft>
            </a:pPr>
            <a:r>
              <a:rPr sz="2800" b="1">
                <a:solidFill>
                  <a:srgbClr val="14181F"/>
                </a:solidFill>
                <a:latin typeface="Arial"/>
              </a:rPr>
              <a:t>Technologies used in the solution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321040"/>
              </a:tblGrid>
              <a:tr h="6172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Technology</a:t>
                      </a:r>
                    </a:p>
                  </a:txBody>
                  <a:tcPr anchor="ctr">
                    <a:solidFill>
                      <a:srgbClr val="1418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Role in ReKindle</a:t>
                      </a:r>
                    </a:p>
                  </a:txBody>
                  <a:tcPr anchor="ctr">
                    <a:solidFill>
                      <a:srgbClr val="14181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181F"/>
                          </a:solidFill>
                          <a:latin typeface="Arial"/>
                        </a:rPr>
                        <a:t>Gemini on Vertex AI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81F"/>
                          </a:solidFill>
                          <a:latin typeface="Arial"/>
                        </a:rPr>
                        <a:t>Message drafting with structured output (response_schema) that forces claim-to-fact citations; reply-intent classification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181F"/>
                          </a:solidFill>
                          <a:latin typeface="Arial"/>
                        </a:rPr>
                        <a:t>BigQuery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81F"/>
                          </a:solidFill>
                          <a:latin typeface="Arial"/>
                        </a:rPr>
                        <a:t>Source of truth for customers and orders; deterministic RFM + dormancy SQL; append-only event log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181F"/>
                          </a:solidFill>
                          <a:latin typeface="Arial"/>
                        </a:rPr>
                        <a:t>Cloud Run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81F"/>
                          </a:solidFill>
                          <a:latin typeface="Arial"/>
                        </a:rPr>
                        <a:t>Agent orchestration (FastAPI), owner cockpit UI, WhatsApp webhook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181F"/>
                          </a:solidFill>
                          <a:latin typeface="Arial"/>
                        </a:rPr>
                        <a:t>Firestore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81F"/>
                          </a:solidFill>
                          <a:latin typeface="Arial"/>
                        </a:rPr>
                        <a:t>Real-time draft queue, trust state and suppression list for the cockpit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181F"/>
                          </a:solidFill>
                          <a:latin typeface="Arial"/>
                        </a:rPr>
                        <a:t>Looker Studio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81F"/>
                          </a:solidFill>
                          <a:latin typeface="Arial"/>
                        </a:rPr>
                        <a:t>Dashboard over a BigQuery view: recovered revenue, auto-send and reply rates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181F"/>
                          </a:solidFill>
                          <a:latin typeface="Arial"/>
                        </a:rPr>
                        <a:t>Gmail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81F"/>
                          </a:solidFill>
                          <a:latin typeface="Arial"/>
                        </a:rPr>
                        <a:t>Email delivery with the opt-out line appended by the system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181F"/>
                          </a:solidFill>
                          <a:latin typeface="Arial"/>
                        </a:rPr>
                        <a:t>WhatsApp Cloud API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81F"/>
                          </a:solidFill>
                          <a:latin typeface="Arial"/>
                        </a:rPr>
                        <a:t>Delivery channel only (Meta-run), approved templates; the rest of the stack is Google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663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4980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1260"/>
              </a:spcAft>
            </a:pPr>
            <a:r>
              <a:rPr sz="2800" b="1">
                <a:solidFill>
                  <a:srgbClr val="14181F"/>
                </a:solidFill>
                <a:latin typeface="Arial"/>
              </a:rPr>
              <a:t>Estimated implementation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810"/>
              </a:spcAft>
            </a:pPr>
            <a:r>
              <a:rPr sz="1800" b="0">
                <a:solidFill>
                  <a:srgbClr val="14181F"/>
                </a:solidFill>
                <a:latin typeface="Arial"/>
              </a:rPr>
              <a:t>The MVP runs within Google Cloud hackathon credits. Every cost driver is consumption-based, and the design keeps the expensive part (the LLM) to one call per message, two at most.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950"/>
              </a:spcAft>
            </a:pPr>
            <a:r>
              <a:rPr sz="1900" b="1">
                <a:solidFill>
                  <a:srgbClr val="14181F"/>
                </a:solidFill>
                <a:latin typeface="Arial"/>
              </a:rPr>
              <a:t>•  </a:t>
            </a:r>
            <a:r>
              <a:rPr sz="1900" b="1">
                <a:solidFill>
                  <a:srgbClr val="14181F"/>
                </a:solidFill>
                <a:latin typeface="Arial"/>
              </a:rPr>
              <a:t>Gemini on Vertex AI: </a:t>
            </a:r>
            <a:r>
              <a:rPr sz="1900" b="0">
                <a:solidFill>
                  <a:srgbClr val="14181F"/>
                </a:solidFill>
                <a:latin typeface="Arial"/>
              </a:rPr>
              <a:t>scales with messages drafted; one call per message, plus one regeneration only when the guardrail blocks a draft</a:t>
            </a:r>
          </a:p>
          <a:p>
            <a:pPr algn="l">
              <a:lnSpc>
                <a:spcPct val="110000"/>
              </a:lnSpc>
              <a:spcAft>
                <a:spcPts val="950"/>
              </a:spcAft>
            </a:pPr>
            <a:r>
              <a:rPr sz="1900" b="1">
                <a:solidFill>
                  <a:srgbClr val="14181F"/>
                </a:solidFill>
                <a:latin typeface="Arial"/>
              </a:rPr>
              <a:t>•  </a:t>
            </a:r>
            <a:r>
              <a:rPr sz="1900" b="1">
                <a:solidFill>
                  <a:srgbClr val="14181F"/>
                </a:solidFill>
                <a:latin typeface="Arial"/>
              </a:rPr>
              <a:t>BigQuery: </a:t>
            </a:r>
            <a:r>
              <a:rPr sz="1900" b="0">
                <a:solidFill>
                  <a:srgbClr val="14181F"/>
                </a:solidFill>
                <a:latin typeface="Arial"/>
              </a:rPr>
              <a:t>scales with customer records scanned; segmentation is one query per campaign run</a:t>
            </a:r>
          </a:p>
          <a:p>
            <a:pPr algn="l">
              <a:lnSpc>
                <a:spcPct val="110000"/>
              </a:lnSpc>
              <a:spcAft>
                <a:spcPts val="950"/>
              </a:spcAft>
            </a:pPr>
            <a:r>
              <a:rPr sz="1900" b="1">
                <a:solidFill>
                  <a:srgbClr val="14181F"/>
                </a:solidFill>
                <a:latin typeface="Arial"/>
              </a:rPr>
              <a:t>•  </a:t>
            </a:r>
            <a:r>
              <a:rPr sz="1900" b="1">
                <a:solidFill>
                  <a:srgbClr val="14181F"/>
                </a:solidFill>
                <a:latin typeface="Arial"/>
              </a:rPr>
              <a:t>Cloud Run: </a:t>
            </a:r>
            <a:r>
              <a:rPr sz="1900" b="0">
                <a:solidFill>
                  <a:srgbClr val="14181F"/>
                </a:solidFill>
                <a:latin typeface="Arial"/>
              </a:rPr>
              <a:t>pay-per-request, scales to zero between campaigns</a:t>
            </a:r>
          </a:p>
          <a:p>
            <a:pPr algn="l">
              <a:lnSpc>
                <a:spcPct val="110000"/>
              </a:lnSpc>
              <a:spcAft>
                <a:spcPts val="950"/>
              </a:spcAft>
            </a:pPr>
            <a:r>
              <a:rPr sz="1900" b="1">
                <a:solidFill>
                  <a:srgbClr val="14181F"/>
                </a:solidFill>
                <a:latin typeface="Arial"/>
              </a:rPr>
              <a:t>•  </a:t>
            </a:r>
            <a:r>
              <a:rPr sz="1900" b="1">
                <a:solidFill>
                  <a:srgbClr val="14181F"/>
                </a:solidFill>
                <a:latin typeface="Arial"/>
              </a:rPr>
              <a:t>Firestore: </a:t>
            </a:r>
            <a:r>
              <a:rPr sz="1900" b="0">
                <a:solidFill>
                  <a:srgbClr val="14181F"/>
                </a:solidFill>
                <a:latin typeface="Arial"/>
              </a:rPr>
              <a:t>scales with cockpit activity (drafts written, decisions made)</a:t>
            </a:r>
          </a:p>
          <a:p>
            <a:pPr algn="l">
              <a:lnSpc>
                <a:spcPct val="110000"/>
              </a:lnSpc>
              <a:spcAft>
                <a:spcPts val="950"/>
              </a:spcAft>
            </a:pPr>
            <a:r>
              <a:rPr sz="1900" b="1">
                <a:solidFill>
                  <a:srgbClr val="14181F"/>
                </a:solidFill>
                <a:latin typeface="Arial"/>
              </a:rPr>
              <a:t>•  </a:t>
            </a:r>
            <a:r>
              <a:rPr sz="1900" b="1">
                <a:solidFill>
                  <a:srgbClr val="14181F"/>
                </a:solidFill>
                <a:latin typeface="Arial"/>
              </a:rPr>
              <a:t>WhatsApp Business API: </a:t>
            </a:r>
            <a:r>
              <a:rPr sz="1900" b="0">
                <a:solidFill>
                  <a:srgbClr val="14181F"/>
                </a:solidFill>
                <a:latin typeface="Arial"/>
              </a:rPr>
              <a:t>per-conversation fees from the provider; email via Gmail API has no per-message fee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663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4980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1260"/>
              </a:spcAft>
            </a:pPr>
            <a:r>
              <a:rPr sz="2800" b="1">
                <a:solidFill>
                  <a:srgbClr val="14181F"/>
                </a:solidFill>
                <a:latin typeface="Arial"/>
              </a:rPr>
              <a:t>Snapshots of the prototype</a:t>
            </a:r>
          </a:p>
        </p:txBody>
      </p:sp>
      <p:pic>
        <p:nvPicPr>
          <p:cNvPr id="4" name="Picture 3" descr="cockpit-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28" y="1371600"/>
            <a:ext cx="6770624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5852160"/>
            <a:ext cx="69494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585"/>
              </a:spcAft>
            </a:pPr>
            <a:r>
              <a:rPr sz="1300" b="0">
                <a:solidFill>
                  <a:srgbClr val="5B6472"/>
                </a:solidFill>
                <a:latin typeface="Arial"/>
              </a:rPr>
              <a:t>Owner review queue: claims highlighted against their source facts; autonomy meter shows trust earned</a:t>
            </a:r>
          </a:p>
        </p:txBody>
      </p:sp>
      <p:pic>
        <p:nvPicPr>
          <p:cNvPr id="6" name="Picture 5" descr="blocked-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2445492"/>
            <a:ext cx="4526280" cy="23327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5852160"/>
            <a:ext cx="45262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585"/>
              </a:spcAft>
            </a:pPr>
            <a:r>
              <a:rPr sz="1300" b="0">
                <a:solidFill>
                  <a:srgbClr val="5B6472"/>
                </a:solidFill>
                <a:latin typeface="Arial"/>
              </a:rPr>
              <a:t>Guardrail at work: an invented 20% discount is blocked and never reaches the 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540"/>
              </a:spcAft>
            </a:pPr>
            <a:r>
              <a:rPr sz="1200" b="0">
                <a:solidFill>
                  <a:srgbClr val="5B6472"/>
                </a:solidFill>
                <a:latin typeface="Arial"/>
              </a:rPr>
              <a:t>Running prototype on synthetic customer data, not real customers.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663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4980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1260"/>
              </a:spcAft>
            </a:pPr>
            <a:r>
              <a:rPr sz="2800" b="1">
                <a:solidFill>
                  <a:srgbClr val="14181F"/>
                </a:solidFill>
                <a:latin typeface="Arial"/>
              </a:rPr>
              <a:t>Prototype performance report / benchmarking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E7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26517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1530"/>
              </a:spcAft>
            </a:pPr>
            <a:r>
              <a:rPr sz="3400" b="1">
                <a:solidFill>
                  <a:srgbClr val="14181F"/>
                </a:solidFill>
                <a:latin typeface="Arial"/>
              </a:rPr>
              <a:t>2,783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24688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585"/>
              </a:spcAft>
            </a:pPr>
            <a:r>
              <a:rPr sz="1300" b="0">
                <a:solidFill>
                  <a:srgbClr val="14181F"/>
                </a:solidFill>
                <a:latin typeface="Arial"/>
              </a:rPr>
              <a:t>adversarial drafts tested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41732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463040"/>
            <a:ext cx="26517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1530"/>
              </a:spcAft>
            </a:pPr>
            <a:r>
              <a:rPr sz="3400" b="1">
                <a:solidFill>
                  <a:srgbClr val="14181F"/>
                </a:solidFill>
                <a:latin typeface="Arial"/>
              </a:rPr>
              <a:t>2,783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94560"/>
            <a:ext cx="24688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585"/>
              </a:spcAft>
            </a:pPr>
            <a:r>
              <a:rPr sz="1300" b="0">
                <a:solidFill>
                  <a:srgbClr val="14181F"/>
                </a:solidFill>
                <a:latin typeface="Arial"/>
              </a:rPr>
              <a:t>stopped by the guardrail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1732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463040"/>
            <a:ext cx="26517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1530"/>
              </a:spcAft>
            </a:pPr>
            <a:r>
              <a:rPr sz="3400" b="1">
                <a:solidFill>
                  <a:srgbClr val="14181F"/>
                </a:solidFill>
                <a:latin typeface="Arial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194560"/>
            <a:ext cx="24688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585"/>
              </a:spcAft>
            </a:pPr>
            <a:r>
              <a:rPr sz="1300" b="0">
                <a:solidFill>
                  <a:srgbClr val="14181F"/>
                </a:solidFill>
                <a:latin typeface="Arial"/>
              </a:rPr>
              <a:t>reached a customer without a human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41732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463040"/>
            <a:ext cx="26517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1530"/>
              </a:spcAft>
            </a:pPr>
            <a:r>
              <a:rPr sz="3400" b="1">
                <a:solidFill>
                  <a:srgbClr val="14181F"/>
                </a:solidFill>
                <a:latin typeface="Arial"/>
              </a:rPr>
              <a:t>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194560"/>
            <a:ext cx="24688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585"/>
              </a:spcAft>
            </a:pPr>
            <a:r>
              <a:rPr sz="1300" b="0">
                <a:solidFill>
                  <a:srgbClr val="14181F"/>
                </a:solidFill>
                <a:latin typeface="Arial"/>
              </a:rPr>
              <a:t>good drafts wrongly blocked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1124712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40"/>
              </a:spcAft>
            </a:pPr>
            <a:r>
              <a:rPr sz="1600" b="1">
                <a:solidFill>
                  <a:srgbClr val="14181F"/>
                </a:solidFill>
                <a:latin typeface="Arial"/>
              </a:rPr>
              <a:t>•  </a:t>
            </a:r>
            <a:r>
              <a:rPr sz="1600" b="0">
                <a:solidFill>
                  <a:srgbClr val="14181F"/>
                </a:solidFill>
                <a:latin typeface="Arial"/>
              </a:rPr>
              <a:t>12 corruption types a hallucinating model could produce (invented discount, wrong age, invented name, fake product, pressure, links, guarantees, fabricated memories) applied to all 233 outreach targets, with auto-send fully unlocked and the threshold at its floor.</a:t>
            </a:r>
          </a:p>
          <a:p>
            <a:pPr algn="l">
              <a:lnSpc>
                <a:spcPct val="110000"/>
              </a:lnSpc>
              <a:spcAft>
                <a:spcPts val="640"/>
              </a:spcAft>
            </a:pPr>
            <a:r>
              <a:rPr sz="1600" b="1">
                <a:solidFill>
                  <a:srgbClr val="14181F"/>
                </a:solidFill>
                <a:latin typeface="Arial"/>
              </a:rPr>
              <a:t>•  </a:t>
            </a:r>
            <a:r>
              <a:rPr sz="1600" b="0">
                <a:solidFill>
                  <a:srgbClr val="14181F"/>
                </a:solidFill>
                <a:latin typeface="Arial"/>
              </a:rPr>
              <a:t>Seeded demo run (synthetic, 320 customers): 90 drafts, 43 sent (21 auto-sent, 22 owner-approved), 4 blocked, 2 opt-outs honoured. Owner decisions, replies and orders in this run are simulated.</a:t>
            </a:r>
          </a:p>
          <a:p>
            <a:pPr algn="l">
              <a:lnSpc>
                <a:spcPct val="110000"/>
              </a:lnSpc>
              <a:spcAft>
                <a:spcPts val="640"/>
              </a:spcAft>
            </a:pPr>
            <a:r>
              <a:rPr sz="1600" b="1">
                <a:solidFill>
                  <a:srgbClr val="14181F"/>
                </a:solidFill>
                <a:latin typeface="Arial"/>
              </a:rPr>
              <a:t>•  </a:t>
            </a:r>
            <a:r>
              <a:rPr sz="1600" b="0">
                <a:solidFill>
                  <a:srgbClr val="14181F"/>
                </a:solidFill>
                <a:latin typeface="Arial"/>
              </a:rPr>
              <a:t>49 automated tests cover segmentation, consent and STOP in several languages, the guardrail, routing and the approval API.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257800"/>
            <a:ext cx="11247120" cy="1280160"/>
          </a:xfrm>
          <a:prstGeom prst="roundRect">
            <a:avLst>
              <a:gd name="adj" fmla="val 6000"/>
            </a:avLst>
          </a:prstGeom>
          <a:solidFill>
            <a:srgbClr val="FD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03520"/>
            <a:ext cx="10881360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30"/>
              </a:spcAft>
            </a:pPr>
            <a:r>
              <a:rPr sz="1400" b="1">
                <a:solidFill>
                  <a:srgbClr val="14181F"/>
                </a:solidFill>
                <a:latin typeface="Arial"/>
              </a:rPr>
              <a:t>Honest scope. </a:t>
            </a:r>
            <a:r>
              <a:rPr sz="1400" b="0">
                <a:solidFill>
                  <a:srgbClr val="14181F"/>
                </a:solidFill>
                <a:latin typeface="Arial"/>
              </a:rPr>
              <a:t>This tests the guardrail with our own corruption set on synthetic data, not Gemini's real output or real customers. Pilot metrics (auto-send rate, approval latency, time saved, recovered revenue) will be measured on Babytrail's data at the Nov 6 prototype evaluation and replace the simulated figures.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663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4980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1260"/>
              </a:spcAft>
            </a:pPr>
            <a:r>
              <a:rPr sz="2800" b="1">
                <a:solidFill>
                  <a:srgbClr val="14181F"/>
                </a:solidFill>
                <a:latin typeface="Arial"/>
              </a:rPr>
              <a:t>Additional details / future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1080"/>
              </a:spcAft>
            </a:pPr>
            <a:r>
              <a:rPr sz="1800" b="1">
                <a:solidFill>
                  <a:srgbClr val="14181F"/>
                </a:solidFill>
                <a:latin typeface="Arial"/>
              </a:rPr>
              <a:t>•  </a:t>
            </a:r>
            <a:r>
              <a:rPr sz="1800" b="1">
                <a:solidFill>
                  <a:srgbClr val="14181F"/>
                </a:solidFill>
                <a:latin typeface="Arial"/>
              </a:rPr>
              <a:t>Second-layer semantic verifier: </a:t>
            </a:r>
            <a:r>
              <a:rPr sz="1800" b="0">
                <a:solidFill>
                  <a:srgbClr val="14181F"/>
                </a:solidFill>
                <a:latin typeface="Arial"/>
              </a:rPr>
              <a:t>a Gemini entailment check on top of the deterministic one, for paraphrased claims no rule can see</a:t>
            </a:r>
          </a:p>
          <a:p>
            <a:pPr algn="l">
              <a:lnSpc>
                <a:spcPct val="110000"/>
              </a:lnSpc>
              <a:spcAft>
                <a:spcPts val="1080"/>
              </a:spcAft>
            </a:pPr>
            <a:r>
              <a:rPr sz="1800" b="1">
                <a:solidFill>
                  <a:srgbClr val="14181F"/>
                </a:solidFill>
                <a:latin typeface="Arial"/>
              </a:rPr>
              <a:t>•  </a:t>
            </a:r>
            <a:r>
              <a:rPr sz="1800" b="1">
                <a:solidFill>
                  <a:srgbClr val="14181F"/>
                </a:solidFill>
                <a:latin typeface="Arial"/>
              </a:rPr>
              <a:t>Native integrations: </a:t>
            </a:r>
            <a:r>
              <a:rPr sz="1800" b="0">
                <a:solidFill>
                  <a:srgbClr val="14181F"/>
                </a:solidFill>
                <a:latin typeface="Arial"/>
              </a:rPr>
              <a:t>Shopify, WooCommerce and Unicommerce for one-click onboarding</a:t>
            </a:r>
          </a:p>
          <a:p>
            <a:pPr algn="l">
              <a:lnSpc>
                <a:spcPct val="110000"/>
              </a:lnSpc>
              <a:spcAft>
                <a:spcPts val="1080"/>
              </a:spcAft>
            </a:pPr>
            <a:r>
              <a:rPr sz="1800" b="1">
                <a:solidFill>
                  <a:srgbClr val="14181F"/>
                </a:solidFill>
                <a:latin typeface="Arial"/>
              </a:rPr>
              <a:t>•  </a:t>
            </a:r>
            <a:r>
              <a:rPr sz="1800" b="1">
                <a:solidFill>
                  <a:srgbClr val="14181F"/>
                </a:solidFill>
                <a:latin typeface="Arial"/>
              </a:rPr>
              <a:t>Context-aware retrieval: </a:t>
            </a:r>
            <a:r>
              <a:rPr sz="1800" b="0">
                <a:solidFill>
                  <a:srgbClr val="14181F"/>
                </a:solidFill>
                <a:latin typeface="Arial"/>
              </a:rPr>
              <a:t>Vertex AI Search over catalog and order history for richer personalization</a:t>
            </a:r>
          </a:p>
          <a:p>
            <a:pPr algn="l">
              <a:lnSpc>
                <a:spcPct val="110000"/>
              </a:lnSpc>
              <a:spcAft>
                <a:spcPts val="1080"/>
              </a:spcAft>
            </a:pPr>
            <a:r>
              <a:rPr sz="1800" b="1">
                <a:solidFill>
                  <a:srgbClr val="14181F"/>
                </a:solidFill>
                <a:latin typeface="Arial"/>
              </a:rPr>
              <a:t>•  </a:t>
            </a:r>
            <a:r>
              <a:rPr sz="1800" b="1">
                <a:solidFill>
                  <a:srgbClr val="14181F"/>
                </a:solidFill>
                <a:latin typeface="Arial"/>
              </a:rPr>
              <a:t>Inventory-aware campaigns: </a:t>
            </a:r>
            <a:r>
              <a:rPr sz="1800" b="0">
                <a:solidFill>
                  <a:srgbClr val="14181F"/>
                </a:solidFill>
                <a:latin typeface="Arial"/>
              </a:rPr>
              <a:t>promote what is in stock, pause what is not</a:t>
            </a:r>
          </a:p>
          <a:p>
            <a:pPr algn="l">
              <a:lnSpc>
                <a:spcPct val="110000"/>
              </a:lnSpc>
              <a:spcAft>
                <a:spcPts val="1080"/>
              </a:spcAft>
            </a:pPr>
            <a:r>
              <a:rPr sz="1800" b="1">
                <a:solidFill>
                  <a:srgbClr val="14181F"/>
                </a:solidFill>
                <a:latin typeface="Arial"/>
              </a:rPr>
              <a:t>•  </a:t>
            </a:r>
            <a:r>
              <a:rPr sz="1800" b="1">
                <a:solidFill>
                  <a:srgbClr val="14181F"/>
                </a:solidFill>
                <a:latin typeface="Arial"/>
              </a:rPr>
              <a:t>More channels: </a:t>
            </a:r>
            <a:r>
              <a:rPr sz="1800" b="0">
                <a:solidFill>
                  <a:srgbClr val="14181F"/>
                </a:solidFill>
                <a:latin typeface="Arial"/>
              </a:rPr>
              <a:t>SMS and Instagram DMs alongside WhatsApp and email</a:t>
            </a:r>
          </a:p>
          <a:p>
            <a:pPr algn="l">
              <a:lnSpc>
                <a:spcPct val="110000"/>
              </a:lnSpc>
              <a:spcAft>
                <a:spcPts val="1080"/>
              </a:spcAft>
            </a:pPr>
            <a:r>
              <a:rPr sz="1800" b="1">
                <a:solidFill>
                  <a:srgbClr val="14181F"/>
                </a:solidFill>
                <a:latin typeface="Arial"/>
              </a:rPr>
              <a:t>•  </a:t>
            </a:r>
            <a:r>
              <a:rPr sz="1800" b="1">
                <a:solidFill>
                  <a:srgbClr val="14181F"/>
                </a:solidFill>
                <a:latin typeface="Arial"/>
              </a:rPr>
              <a:t>Predictive intelligence: </a:t>
            </a:r>
            <a:r>
              <a:rPr sz="1800" b="0">
                <a:solidFill>
                  <a:srgbClr val="14181F"/>
                </a:solidFill>
                <a:latin typeface="Arial"/>
              </a:rPr>
              <a:t>churn and lifetime-value scoring with BigQuery ML beyond RFM</a:t>
            </a:r>
          </a:p>
          <a:p>
            <a:pPr algn="l">
              <a:lnSpc>
                <a:spcPct val="110000"/>
              </a:lnSpc>
              <a:spcAft>
                <a:spcPts val="1080"/>
              </a:spcAft>
            </a:pPr>
            <a:r>
              <a:rPr sz="1800" b="1">
                <a:solidFill>
                  <a:srgbClr val="14181F"/>
                </a:solidFill>
                <a:latin typeface="Arial"/>
              </a:rPr>
              <a:t>•  </a:t>
            </a:r>
            <a:r>
              <a:rPr sz="1800" b="1">
                <a:solidFill>
                  <a:srgbClr val="14181F"/>
                </a:solidFill>
                <a:latin typeface="Arial"/>
              </a:rPr>
              <a:t>Trust-earning autonomy at scale: </a:t>
            </a:r>
            <a:r>
              <a:rPr sz="1800" b="0">
                <a:solidFill>
                  <a:srgbClr val="14181F"/>
                </a:solidFill>
                <a:latin typeface="Arial"/>
              </a:rPr>
              <a:t>merchant edits teach the model; the cockpit becomes an exception-handling tool, not a daily chore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663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4980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1260"/>
              </a:spcAft>
            </a:pPr>
            <a:r>
              <a:rPr sz="2800" b="1">
                <a:solidFill>
                  <a:srgbClr val="14181F"/>
                </a:solidFill>
                <a:latin typeface="Arial"/>
              </a:rPr>
              <a:t>Provide links to your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990"/>
              </a:spcAft>
            </a:pPr>
            <a:r>
              <a:rPr sz="2200" b="1">
                <a:solidFill>
                  <a:srgbClr val="14181F"/>
                </a:solidFill>
                <a:latin typeface="Arial"/>
              </a:rPr>
              <a:t>GitHub Public Repository: </a:t>
            </a:r>
            <a:r>
              <a:rPr sz="2200" b="0">
                <a:solidFill>
                  <a:srgbClr val="14181F"/>
                </a:solidFill>
                <a:latin typeface="Arial"/>
              </a:rPr>
              <a:t>https://github.com/JayMandava/rekindle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990"/>
              </a:spcAft>
            </a:pPr>
            <a:r>
              <a:rPr sz="2200" b="1">
                <a:solidFill>
                  <a:srgbClr val="14181F"/>
                </a:solidFill>
                <a:latin typeface="Arial"/>
              </a:rPr>
              <a:t>Demo Video Link (3 minutes): </a:t>
            </a:r>
            <a:r>
              <a:rPr sz="2200" b="0">
                <a:solidFill>
                  <a:srgbClr val="14181F"/>
                </a:solidFill>
                <a:latin typeface="Arial"/>
              </a:rPr>
              <a:t>[add before submission]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990"/>
              </a:spcAft>
            </a:pPr>
            <a:r>
              <a:rPr sz="2200" b="1">
                <a:solidFill>
                  <a:srgbClr val="14181F"/>
                </a:solidFill>
                <a:latin typeface="Arial"/>
              </a:rPr>
              <a:t>Final Product Link: </a:t>
            </a:r>
            <a:r>
              <a:rPr sz="2200" b="0">
                <a:solidFill>
                  <a:srgbClr val="14181F"/>
                </a:solidFill>
                <a:latin typeface="Arial"/>
              </a:rPr>
              <a:t>[add before submission: Cloud Run URL]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663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49808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1260"/>
              </a:spcAft>
            </a:pPr>
            <a:r>
              <a:rPr sz="2800" b="1">
                <a:solidFill>
                  <a:srgbClr val="14181F"/>
                </a:solidFill>
                <a:latin typeface="Arial"/>
              </a:rPr>
              <a:t>Team</a:t>
            </a:r>
          </a:p>
        </p:txBody>
      </p:sp>
      <p:sp>
        <p:nvSpPr>
          <p:cNvPr id="4" name="Oval 3"/>
          <p:cNvSpPr/>
          <p:nvPr/>
        </p:nvSpPr>
        <p:spPr>
          <a:xfrm>
            <a:off x="1280160" y="2011680"/>
            <a:ext cx="1828800" cy="1828800"/>
          </a:xfrm>
          <a:prstGeom prst="ellipse">
            <a:avLst/>
          </a:prstGeom>
          <a:solidFill>
            <a:srgbClr val="E7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011680"/>
            <a:ext cx="1828800" cy="1828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2430"/>
              </a:spcAft>
            </a:pPr>
            <a:r>
              <a:rPr sz="5400" b="1">
                <a:solidFill>
                  <a:srgbClr val="174EA6"/>
                </a:solidFill>
                <a:latin typeface="Arial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02336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990"/>
              </a:spcAft>
            </a:pPr>
            <a:r>
              <a:rPr sz="2200" b="1">
                <a:solidFill>
                  <a:srgbClr val="14181F"/>
                </a:solidFill>
                <a:latin typeface="Arial"/>
              </a:rPr>
              <a:t>Abhishek</a:t>
            </a:r>
          </a:p>
        </p:txBody>
      </p:sp>
      <p:sp>
        <p:nvSpPr>
          <p:cNvPr id="7" name="Oval 6"/>
          <p:cNvSpPr/>
          <p:nvPr/>
        </p:nvSpPr>
        <p:spPr>
          <a:xfrm>
            <a:off x="3931920" y="2011680"/>
            <a:ext cx="1828800" cy="1828800"/>
          </a:xfrm>
          <a:prstGeom prst="ellipse">
            <a:avLst/>
          </a:prstGeom>
          <a:solidFill>
            <a:srgbClr val="E7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2011680"/>
            <a:ext cx="1828800" cy="1828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2430"/>
              </a:spcAft>
            </a:pPr>
            <a:r>
              <a:rPr sz="5400" b="1">
                <a:solidFill>
                  <a:srgbClr val="174EA6"/>
                </a:solidFill>
                <a:latin typeface="Arial"/>
              </a:rP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02336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990"/>
              </a:spcAft>
            </a:pPr>
            <a:r>
              <a:rPr sz="2200" b="1">
                <a:solidFill>
                  <a:srgbClr val="14181F"/>
                </a:solidFill>
                <a:latin typeface="Arial"/>
              </a:rPr>
              <a:t>Rishub</a:t>
            </a:r>
          </a:p>
        </p:txBody>
      </p:sp>
      <p:sp>
        <p:nvSpPr>
          <p:cNvPr id="10" name="Oval 9"/>
          <p:cNvSpPr/>
          <p:nvPr/>
        </p:nvSpPr>
        <p:spPr>
          <a:xfrm>
            <a:off x="6583679" y="2011680"/>
            <a:ext cx="1828800" cy="1828800"/>
          </a:xfrm>
          <a:prstGeom prst="ellipse">
            <a:avLst/>
          </a:prstGeom>
          <a:solidFill>
            <a:srgbClr val="E7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2011680"/>
            <a:ext cx="1828800" cy="1828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2430"/>
              </a:spcAft>
            </a:pPr>
            <a:r>
              <a:rPr sz="5400" b="1">
                <a:solidFill>
                  <a:srgbClr val="174EA6"/>
                </a:solidFill>
                <a:latin typeface="Arial"/>
              </a:rPr>
              <a:t>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402336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990"/>
              </a:spcAft>
            </a:pPr>
            <a:r>
              <a:rPr sz="2200" b="1">
                <a:solidFill>
                  <a:srgbClr val="14181F"/>
                </a:solidFill>
                <a:latin typeface="Arial"/>
              </a:rPr>
              <a:t>Jeyanth</a:t>
            </a:r>
          </a:p>
        </p:txBody>
      </p:sp>
      <p:sp>
        <p:nvSpPr>
          <p:cNvPr id="13" name="Oval 12"/>
          <p:cNvSpPr/>
          <p:nvPr/>
        </p:nvSpPr>
        <p:spPr>
          <a:xfrm>
            <a:off x="9235440" y="2011680"/>
            <a:ext cx="1828800" cy="1828800"/>
          </a:xfrm>
          <a:prstGeom prst="ellipse">
            <a:avLst/>
          </a:prstGeom>
          <a:solidFill>
            <a:srgbClr val="E7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2011680"/>
            <a:ext cx="1828800" cy="1828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2430"/>
              </a:spcAft>
            </a:pPr>
            <a:r>
              <a:rPr sz="5400" b="1">
                <a:solidFill>
                  <a:srgbClr val="174EA6"/>
                </a:solidFill>
                <a:latin typeface="Arial"/>
              </a:rPr>
              <a:t>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402336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990"/>
              </a:spcAft>
            </a:pPr>
            <a:r>
              <a:rPr sz="2200" b="1">
                <a:solidFill>
                  <a:srgbClr val="14181F"/>
                </a:solidFill>
                <a:latin typeface="Arial"/>
              </a:rPr>
              <a:t>Pratheek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630"/>
              </a:spcAft>
            </a:pPr>
            <a:r>
              <a:rPr sz="1400" b="0">
                <a:solidFill>
                  <a:srgbClr val="5B6472"/>
                </a:solidFill>
                <a:latin typeface="Arial"/>
              </a:rPr>
              <a:t>Replace circles with team photos before submission.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an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